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{[Sources]
- Sem fontes externas. Conteúdo baseado no cenário fornecido pelo usuário.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{[Sources]
- Sem fontes externas. Conteúdo baseado no cenário fornecido pelo usuário.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{[Sources]
- Sem fontes externas. Conteúdo baseado no cenário fornecido pelo usuário.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{[Sources]
- Sem fontes externas. Conteúdo baseado no cenário fornecido pelo usuário.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{[Sources]
- Sem fontes externas. Conteúdo baseado no cenário fornecido pelo usuário.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{[Sources]
- Sem fontes externas. Conteúdo baseado no cenário fornecido pelo usuário.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D6B"/>
          </a:solidFill>
          <a:ln w="12700">
            <a:solidFill>
              <a:srgbClr val="143D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239"/>
          </a:solidFill>
          <a:ln w="12700">
            <a:solidFill>
              <a:srgbClr val="0B22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56032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PROJETO AULA SERVER WINDOWS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66751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6E7F8"/>
                </a:solidFill>
              </a:rPr>
              <a:t>Infraestrutura para empresa de contabilidade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5486400" cy="4526280"/>
          </a:xfrm>
          <a:prstGeom prst="roundRect">
            <a:avLst>
              <a:gd name="adj" fmla="val 1616"/>
            </a:avLst>
          </a:prstGeom>
          <a:solidFill>
            <a:srgbClr val="163B63"/>
          </a:solidFill>
          <a:ln w="12700">
            <a:solidFill>
              <a:srgbClr val="89A9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39A"/>
                </a:solidFill>
              </a:rPr>
              <a:t>Integrantes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FFFFFF"/>
                </a:solidFill>
              </a:rPr>
              <a:t>Paulo André Carminati — RM570877</a:t>
            </a:r>
            <a:endParaRPr lang="en-US" sz="1850" dirty="0"/>
          </a:p>
          <a:p>
            <a:pPr indent="0" marL="0">
              <a:buNone/>
            </a:pPr>
            <a:r>
              <a:rPr lang="en-US" sz="1850" dirty="0">
                <a:solidFill>
                  <a:srgbClr val="FFFFFF"/>
                </a:solidFill>
              </a:rPr>
              <a:t>Gustavo Quental Scorsi — RM569862</a:t>
            </a:r>
            <a:endParaRPr lang="en-US" sz="1850" dirty="0"/>
          </a:p>
          <a:p>
            <a:pPr indent="0" marL="0">
              <a:buNone/>
            </a:pPr>
            <a:r>
              <a:rPr lang="en-US" sz="1850" dirty="0">
                <a:solidFill>
                  <a:srgbClr val="FFFFFF"/>
                </a:solidFill>
              </a:rPr>
              <a:t>André Archanjo dos Santos Torres — RM570458</a:t>
            </a:r>
            <a:endParaRPr lang="en-US" sz="1850" dirty="0"/>
          </a:p>
          <a:p>
            <a:pPr indent="0" marL="0">
              <a:buNone/>
            </a:pPr>
            <a:r>
              <a:rPr lang="en-US" sz="1850" dirty="0">
                <a:solidFill>
                  <a:srgbClr val="FFFFFF"/>
                </a:solidFill>
              </a:rPr>
              <a:t>Luiz Carlos da Paixão dos Santos — RM573009</a:t>
            </a:r>
            <a:endParaRPr lang="en-US" sz="1850" dirty="0"/>
          </a:p>
          <a:p>
            <a:pPr indent="0" marL="0">
              <a:buNone/>
            </a:pPr>
            <a:r>
              <a:rPr lang="en-US" sz="1850" dirty="0">
                <a:solidFill>
                  <a:srgbClr val="FFFFFF"/>
                </a:solidFill>
              </a:rPr>
              <a:t>Victor Henrique de Barros Oliveira — RM570012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914400" y="489204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39A"/>
                </a:solidFill>
              </a:rPr>
              <a:t>Tema do trabalho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517550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F0FA"/>
                </a:solidFill>
              </a:rPr>
              <a:t>Planejamento de servidores Windows, sub-redes e viabilidade do ambiente para aula prática.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0" y="141732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4F8FD"/>
          </a:solidFill>
          <a:ln w="12700">
            <a:solidFill>
              <a:srgbClr val="D4E0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7373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3B70"/>
                </a:solidFill>
              </a:rPr>
              <a:t>Cenário-base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675120" y="2139696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7324D"/>
                </a:solidFill>
              </a:rPr>
              <a:t>• Empresa de contabilidade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7324D"/>
                </a:solidFill>
              </a:rPr>
              <a:t>• 370 funcionários locais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7324D"/>
                </a:solidFill>
              </a:rPr>
              <a:t>• 6 servidores Windows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400800" y="3611880"/>
            <a:ext cx="5166360" cy="2331720"/>
          </a:xfrm>
          <a:prstGeom prst="roundRect">
            <a:avLst>
              <a:gd name="adj" fmla="val 3137"/>
            </a:avLst>
          </a:prstGeom>
          <a:solidFill>
            <a:srgbClr val="FFF6EA"/>
          </a:solidFill>
          <a:ln w="12700">
            <a:solidFill>
              <a:srgbClr val="F2C3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3931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15D00"/>
                </a:solidFill>
              </a:rPr>
              <a:t>Escopo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675120" y="4325112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7324D"/>
                </a:solidFill>
              </a:rPr>
              <a:t>2 AD DS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7324D"/>
                </a:solidFill>
              </a:rPr>
              <a:t>2 File Servers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7324D"/>
                </a:solidFill>
              </a:rPr>
              <a:t>2 servidores de aplicações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7324D"/>
                </a:solidFill>
              </a:rPr>
              <a:t>Subnetting para o ambiente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B98"/>
                </a:solidFill>
              </a:rPr>
              <a:t>Projeto acadêmico • Windows Server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3B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Cenário e escopo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04088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5"/>
                </a:solidFill>
              </a:rPr>
              <a:t>Resumo do ambiente proposto para a empresa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12064" y="987552"/>
            <a:ext cx="11064240" cy="0"/>
          </a:xfrm>
          <a:prstGeom prst="line">
            <a:avLst/>
          </a:prstGeom>
          <a:noFill/>
          <a:ln w="12700">
            <a:solidFill>
              <a:srgbClr val="D5E2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521208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276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3B70"/>
                </a:solidFill>
              </a:rPr>
              <a:t>Escopo do projeto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4480560" cy="3291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</a:rPr>
              <a:t>Implantar serviços centrais do Windows Server para autenticação, arquivos e aplicações.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</a:rPr>
              <a:t>Atender 370 funcionários na unidade local com possibilidade de crescimento.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</a:rPr>
              <a:t>Separar serviços críticos em 6 servidores para melhorar disponibilidade e organização.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</a:rPr>
              <a:t>Definir uma faixa privada de IPs com sub-redes adequadas ao ambiente.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126480" y="132588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EAF2FB"/>
          </a:solidFill>
          <a:ln w="12700">
            <a:solidFill>
              <a:srgbClr val="D1E0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600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5EA8"/>
                </a:solidFill>
              </a:rPr>
              <a:t>Premissas do ambiente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400800" y="1965960"/>
            <a:ext cx="4480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7324D"/>
                </a:solidFill>
              </a:rPr>
              <a:t>• </a:t>
            </a:r>
            <a:pPr indent="0" marL="0">
              <a:buNone/>
            </a:pPr>
            <a:r>
              <a:rPr lang="en-US" sz="1750" dirty="0">
                <a:solidFill>
                  <a:srgbClr val="17324D"/>
                </a:solidFill>
              </a:rPr>
              <a:t>Domínio centralizado via Active Directory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7324D"/>
                </a:solidFill>
              </a:rPr>
              <a:t>• </a:t>
            </a:r>
            <a:pPr indent="0" marL="0">
              <a:buNone/>
            </a:pPr>
            <a:r>
              <a:rPr lang="en-US" sz="1750" dirty="0">
                <a:solidFill>
                  <a:srgbClr val="17324D"/>
                </a:solidFill>
              </a:rPr>
              <a:t>Compartilhamento de arquivos departamentais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7324D"/>
                </a:solidFill>
              </a:rPr>
              <a:t>• </a:t>
            </a:r>
            <a:pPr indent="0" marL="0">
              <a:buNone/>
            </a:pPr>
            <a:r>
              <a:rPr lang="en-US" sz="1750" dirty="0">
                <a:solidFill>
                  <a:srgbClr val="17324D"/>
                </a:solidFill>
              </a:rPr>
              <a:t>Aplicações internas executadas em 2 servidores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7324D"/>
                </a:solidFill>
              </a:rPr>
              <a:t>• </a:t>
            </a:r>
            <a:pPr indent="0" marL="0">
              <a:buNone/>
            </a:pPr>
            <a:r>
              <a:rPr lang="en-US" sz="1750" dirty="0">
                <a:solidFill>
                  <a:srgbClr val="17324D"/>
                </a:solidFill>
              </a:rPr>
              <a:t>Rede privada com margem para expansão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6126480" y="361188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3886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8C28"/>
                </a:solidFill>
              </a:rPr>
              <a:t>Resultado esperado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400800" y="431596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7324D"/>
                </a:solidFill>
              </a:rPr>
              <a:t>Uma estrutura lógica de servidores com endereçamento claro, organizada para apresentação e documentação do projeto.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B98"/>
                </a:solidFill>
              </a:rPr>
              <a:t>Escopo acadêmico do ambiente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3B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Arquitetura proposta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04088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5"/>
                </a:solidFill>
              </a:rPr>
              <a:t>Distribuição dos 6 servidores por função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12064" y="987552"/>
            <a:ext cx="11064240" cy="0"/>
          </a:xfrm>
          <a:prstGeom prst="line">
            <a:avLst/>
          </a:prstGeom>
          <a:noFill/>
          <a:ln w="12700">
            <a:solidFill>
              <a:srgbClr val="D5E2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84832"/>
            <a:ext cx="1234440" cy="1874520"/>
          </a:xfrm>
          <a:prstGeom prst="roundRect">
            <a:avLst>
              <a:gd name="adj" fmla="val 4444"/>
            </a:avLst>
          </a:prstGeom>
          <a:solidFill>
            <a:srgbClr val="E9F1FB"/>
          </a:solidFill>
          <a:ln w="12700">
            <a:solidFill>
              <a:srgbClr val="BAD0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8992" y="2322576"/>
            <a:ext cx="905256" cy="384048"/>
          </a:xfrm>
          <a:prstGeom prst="rect">
            <a:avLst/>
          </a:prstGeom>
          <a:solidFill>
            <a:srgbClr val="113B70"/>
          </a:solidFill>
          <a:ln w="12700">
            <a:solidFill>
              <a:srgbClr val="113B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8992" y="2816352"/>
            <a:ext cx="905256" cy="384048"/>
          </a:xfrm>
          <a:prstGeom prst="rect">
            <a:avLst/>
          </a:prstGeom>
          <a:solidFill>
            <a:srgbClr val="1E5EA8"/>
          </a:solidFill>
          <a:ln w="12700">
            <a:solidFill>
              <a:srgbClr val="1E5E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8992" y="3310128"/>
            <a:ext cx="905256" cy="20116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40233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3B70"/>
                </a:solidFill>
              </a:rPr>
              <a:t>AD01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42976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dirty="0">
                <a:solidFill>
                  <a:srgbClr val="17324D"/>
                </a:solidFill>
              </a:rPr>
              <a:t>Active Directory / DNS</a:t>
            </a:r>
            <a:endParaRPr lang="en-US" sz="1140" dirty="0"/>
          </a:p>
        </p:txBody>
      </p:sp>
      <p:sp>
        <p:nvSpPr>
          <p:cNvPr id="11" name="Shape 9"/>
          <p:cNvSpPr/>
          <p:nvPr/>
        </p:nvSpPr>
        <p:spPr>
          <a:xfrm>
            <a:off x="2880360" y="2084832"/>
            <a:ext cx="1234440" cy="1874520"/>
          </a:xfrm>
          <a:prstGeom prst="roundRect">
            <a:avLst>
              <a:gd name="adj" fmla="val 4444"/>
            </a:avLst>
          </a:prstGeom>
          <a:solidFill>
            <a:srgbClr val="E9F1FB"/>
          </a:solidFill>
          <a:ln w="12700">
            <a:solidFill>
              <a:srgbClr val="BAD0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44952" y="2322576"/>
            <a:ext cx="905256" cy="384048"/>
          </a:xfrm>
          <a:prstGeom prst="rect">
            <a:avLst/>
          </a:prstGeom>
          <a:solidFill>
            <a:srgbClr val="113B70"/>
          </a:solidFill>
          <a:ln w="12700">
            <a:solidFill>
              <a:srgbClr val="113B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44952" y="2816352"/>
            <a:ext cx="905256" cy="384048"/>
          </a:xfrm>
          <a:prstGeom prst="rect">
            <a:avLst/>
          </a:prstGeom>
          <a:solidFill>
            <a:srgbClr val="1E5EA8"/>
          </a:solidFill>
          <a:ln w="12700">
            <a:solidFill>
              <a:srgbClr val="1E5E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44952" y="3310128"/>
            <a:ext cx="905256" cy="20116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62072" y="40233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3B70"/>
                </a:solidFill>
              </a:rPr>
              <a:t>AD02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715768" y="42976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dirty="0">
                <a:solidFill>
                  <a:srgbClr val="17324D"/>
                </a:solidFill>
              </a:rPr>
              <a:t>Répllica de AD / DNS</a:t>
            </a:r>
            <a:endParaRPr lang="en-US" sz="1140" dirty="0"/>
          </a:p>
        </p:txBody>
      </p:sp>
      <p:sp>
        <p:nvSpPr>
          <p:cNvPr id="17" name="Shape 15"/>
          <p:cNvSpPr/>
          <p:nvPr/>
        </p:nvSpPr>
        <p:spPr>
          <a:xfrm>
            <a:off x="4846320" y="2084832"/>
            <a:ext cx="1234440" cy="1874520"/>
          </a:xfrm>
          <a:prstGeom prst="roundRect">
            <a:avLst>
              <a:gd name="adj" fmla="val 4444"/>
            </a:avLst>
          </a:prstGeom>
          <a:solidFill>
            <a:srgbClr val="F4F8FD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10912" y="2322576"/>
            <a:ext cx="905256" cy="384048"/>
          </a:xfrm>
          <a:prstGeom prst="rect">
            <a:avLst/>
          </a:prstGeom>
          <a:solidFill>
            <a:srgbClr val="113B70"/>
          </a:solidFill>
          <a:ln w="12700">
            <a:solidFill>
              <a:srgbClr val="113B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10912" y="2816352"/>
            <a:ext cx="905256" cy="384048"/>
          </a:xfrm>
          <a:prstGeom prst="rect">
            <a:avLst/>
          </a:prstGeom>
          <a:solidFill>
            <a:srgbClr val="1E5EA8"/>
          </a:solidFill>
          <a:ln w="12700">
            <a:solidFill>
              <a:srgbClr val="1E5E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10912" y="3310128"/>
            <a:ext cx="905256" cy="20116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40233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3B70"/>
                </a:solidFill>
              </a:rPr>
              <a:t>FS01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681728" y="42976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dirty="0">
                <a:solidFill>
                  <a:srgbClr val="17324D"/>
                </a:solidFill>
              </a:rPr>
              <a:t>File Server - áreas</a:t>
            </a:r>
            <a:endParaRPr lang="en-US" sz="1140" dirty="0"/>
          </a:p>
        </p:txBody>
      </p:sp>
      <p:sp>
        <p:nvSpPr>
          <p:cNvPr id="23" name="Shape 21"/>
          <p:cNvSpPr/>
          <p:nvPr/>
        </p:nvSpPr>
        <p:spPr>
          <a:xfrm>
            <a:off x="6812280" y="2084832"/>
            <a:ext cx="1234440" cy="1874520"/>
          </a:xfrm>
          <a:prstGeom prst="roundRect">
            <a:avLst>
              <a:gd name="adj" fmla="val 4444"/>
            </a:avLst>
          </a:prstGeom>
          <a:solidFill>
            <a:srgbClr val="F4F8FD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76872" y="2322576"/>
            <a:ext cx="905256" cy="384048"/>
          </a:xfrm>
          <a:prstGeom prst="rect">
            <a:avLst/>
          </a:prstGeom>
          <a:solidFill>
            <a:srgbClr val="113B70"/>
          </a:solidFill>
          <a:ln w="12700">
            <a:solidFill>
              <a:srgbClr val="113B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76872" y="2816352"/>
            <a:ext cx="905256" cy="384048"/>
          </a:xfrm>
          <a:prstGeom prst="rect">
            <a:avLst/>
          </a:prstGeom>
          <a:solidFill>
            <a:srgbClr val="1E5EA8"/>
          </a:solidFill>
          <a:ln w="12700">
            <a:solidFill>
              <a:srgbClr val="1E5EA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76872" y="3310128"/>
            <a:ext cx="905256" cy="20116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93992" y="40233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3B70"/>
                </a:solidFill>
              </a:rPr>
              <a:t>FS02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647688" y="42976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dirty="0">
                <a:solidFill>
                  <a:srgbClr val="17324D"/>
                </a:solidFill>
              </a:rPr>
              <a:t>File Server - backup / perfil</a:t>
            </a:r>
            <a:endParaRPr lang="en-US" sz="1140" dirty="0"/>
          </a:p>
        </p:txBody>
      </p:sp>
      <p:sp>
        <p:nvSpPr>
          <p:cNvPr id="29" name="Shape 27"/>
          <p:cNvSpPr/>
          <p:nvPr/>
        </p:nvSpPr>
        <p:spPr>
          <a:xfrm>
            <a:off x="8778240" y="2084832"/>
            <a:ext cx="1234440" cy="1874520"/>
          </a:xfrm>
          <a:prstGeom prst="roundRect">
            <a:avLst>
              <a:gd name="adj" fmla="val 4444"/>
            </a:avLst>
          </a:prstGeom>
          <a:solidFill>
            <a:srgbClr val="FFF4E7"/>
          </a:solidFill>
          <a:ln w="12700">
            <a:solidFill>
              <a:srgbClr val="F2C38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42832" y="2322576"/>
            <a:ext cx="905256" cy="384048"/>
          </a:xfrm>
          <a:prstGeom prst="rect">
            <a:avLst/>
          </a:prstGeom>
          <a:solidFill>
            <a:srgbClr val="113B70"/>
          </a:solidFill>
          <a:ln w="12700">
            <a:solidFill>
              <a:srgbClr val="113B7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42832" y="2816352"/>
            <a:ext cx="905256" cy="384048"/>
          </a:xfrm>
          <a:prstGeom prst="rect">
            <a:avLst/>
          </a:prstGeom>
          <a:solidFill>
            <a:srgbClr val="1E5EA8"/>
          </a:solidFill>
          <a:ln w="12700">
            <a:solidFill>
              <a:srgbClr val="1E5EA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942832" y="3310128"/>
            <a:ext cx="905256" cy="20116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59952" y="40233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3B70"/>
                </a:solidFill>
              </a:rPr>
              <a:t>APP01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613648" y="42976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dirty="0">
                <a:solidFill>
                  <a:srgbClr val="17324D"/>
                </a:solidFill>
              </a:rPr>
              <a:t>Servidor de aplicações</a:t>
            </a:r>
            <a:endParaRPr lang="en-US" sz="1140" dirty="0"/>
          </a:p>
        </p:txBody>
      </p:sp>
      <p:sp>
        <p:nvSpPr>
          <p:cNvPr id="35" name="Shape 33"/>
          <p:cNvSpPr/>
          <p:nvPr/>
        </p:nvSpPr>
        <p:spPr>
          <a:xfrm>
            <a:off x="10744200" y="2084832"/>
            <a:ext cx="1234440" cy="1874520"/>
          </a:xfrm>
          <a:prstGeom prst="roundRect">
            <a:avLst>
              <a:gd name="adj" fmla="val 4444"/>
            </a:avLst>
          </a:prstGeom>
          <a:solidFill>
            <a:srgbClr val="FFF4E7"/>
          </a:solidFill>
          <a:ln w="12700">
            <a:solidFill>
              <a:srgbClr val="F2C38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908792" y="2322576"/>
            <a:ext cx="905256" cy="384048"/>
          </a:xfrm>
          <a:prstGeom prst="rect">
            <a:avLst/>
          </a:prstGeom>
          <a:solidFill>
            <a:srgbClr val="113B70"/>
          </a:solidFill>
          <a:ln w="12700">
            <a:solidFill>
              <a:srgbClr val="113B7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908792" y="2816352"/>
            <a:ext cx="905256" cy="384048"/>
          </a:xfrm>
          <a:prstGeom prst="rect">
            <a:avLst/>
          </a:prstGeom>
          <a:solidFill>
            <a:srgbClr val="1E5EA8"/>
          </a:solidFill>
          <a:ln w="12700">
            <a:solidFill>
              <a:srgbClr val="1E5EA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908792" y="3310128"/>
            <a:ext cx="905256" cy="20116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725912" y="40233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3B70"/>
                </a:solidFill>
              </a:rPr>
              <a:t>APP02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0579608" y="42976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dirty="0">
                <a:solidFill>
                  <a:srgbClr val="17324D"/>
                </a:solidFill>
              </a:rPr>
              <a:t>Servidor de aplicações</a:t>
            </a:r>
            <a:endParaRPr lang="en-US" sz="1140" dirty="0"/>
          </a:p>
        </p:txBody>
      </p:sp>
      <p:sp>
        <p:nvSpPr>
          <p:cNvPr id="41" name="Shape 39"/>
          <p:cNvSpPr/>
          <p:nvPr/>
        </p:nvSpPr>
        <p:spPr>
          <a:xfrm>
            <a:off x="1508760" y="5074920"/>
            <a:ext cx="10012680" cy="0"/>
          </a:xfrm>
          <a:prstGeom prst="line">
            <a:avLst/>
          </a:prstGeom>
          <a:noFill/>
          <a:ln w="12700">
            <a:solidFill>
              <a:srgbClr val="1E5EA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527048" y="4709160"/>
            <a:ext cx="0" cy="365760"/>
          </a:xfrm>
          <a:prstGeom prst="line">
            <a:avLst/>
          </a:prstGeom>
          <a:noFill/>
          <a:ln w="12700">
            <a:solidFill>
              <a:srgbClr val="1E5EA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93008" y="4709160"/>
            <a:ext cx="0" cy="365760"/>
          </a:xfrm>
          <a:prstGeom prst="line">
            <a:avLst/>
          </a:prstGeom>
          <a:noFill/>
          <a:ln w="12700">
            <a:solidFill>
              <a:srgbClr val="1E5EA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458968" y="4709160"/>
            <a:ext cx="0" cy="365760"/>
          </a:xfrm>
          <a:prstGeom prst="line">
            <a:avLst/>
          </a:prstGeom>
          <a:noFill/>
          <a:ln w="12700">
            <a:solidFill>
              <a:srgbClr val="1E5EA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24928" y="4709160"/>
            <a:ext cx="0" cy="365760"/>
          </a:xfrm>
          <a:prstGeom prst="line">
            <a:avLst/>
          </a:prstGeom>
          <a:noFill/>
          <a:ln w="12700">
            <a:solidFill>
              <a:srgbClr val="1E5EA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390888" y="4709160"/>
            <a:ext cx="0" cy="365760"/>
          </a:xfrm>
          <a:prstGeom prst="line">
            <a:avLst/>
          </a:prstGeom>
          <a:noFill/>
          <a:ln w="12700">
            <a:solidFill>
              <a:srgbClr val="1E5EA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356848" y="4709160"/>
            <a:ext cx="0" cy="365760"/>
          </a:xfrm>
          <a:prstGeom prst="line">
            <a:avLst/>
          </a:prstGeom>
          <a:noFill/>
          <a:ln w="12700">
            <a:solidFill>
              <a:srgbClr val="1E5EA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480560" y="5120640"/>
            <a:ext cx="3246120" cy="603504"/>
          </a:xfrm>
          <a:prstGeom prst="roundRect">
            <a:avLst>
              <a:gd name="adj" fmla="val 7576"/>
            </a:avLst>
          </a:prstGeom>
          <a:solidFill>
            <a:srgbClr val="113B70"/>
          </a:solidFill>
          <a:ln w="12700">
            <a:solidFill>
              <a:srgbClr val="113B7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90288" y="532180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FFFFFF"/>
                </a:solidFill>
              </a:rPr>
              <a:t>Rede local da empresa</a:t>
            </a:r>
            <a:endParaRPr lang="en-US" sz="1850" dirty="0"/>
          </a:p>
        </p:txBody>
      </p:sp>
      <p:sp>
        <p:nvSpPr>
          <p:cNvPr id="50" name="Shape 48"/>
          <p:cNvSpPr/>
          <p:nvPr/>
        </p:nvSpPr>
        <p:spPr>
          <a:xfrm>
            <a:off x="822960" y="1261872"/>
            <a:ext cx="4754880" cy="566928"/>
          </a:xfrm>
          <a:prstGeom prst="roundRect">
            <a:avLst>
              <a:gd name="adj" fmla="val 6452"/>
            </a:avLst>
          </a:prstGeom>
          <a:solidFill>
            <a:srgbClr val="FFF4E7"/>
          </a:solidFill>
          <a:ln w="12700">
            <a:solidFill>
              <a:srgbClr val="F2C38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05840" y="144475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5C00"/>
                </a:solidFill>
              </a:rPr>
              <a:t>Redundância no AD + separação entre arquivos e aplicações</a:t>
            </a:r>
            <a:endParaRPr lang="en-US" sz="1700" dirty="0"/>
          </a:p>
        </p:txBody>
      </p:sp>
      <p:sp>
        <p:nvSpPr>
          <p:cNvPr id="52" name="Text 50"/>
          <p:cNvSpPr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B98"/>
                </a:solidFill>
              </a:rPr>
              <a:t>6 servidores Windows organizados por função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3B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Endereçamento IP e sub-redes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04088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5"/>
                </a:solidFill>
              </a:rPr>
              <a:t>Sugestão de rede privada com margem para crescimento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12064" y="987552"/>
            <a:ext cx="11064240" cy="0"/>
          </a:xfrm>
          <a:prstGeom prst="line">
            <a:avLst/>
          </a:prstGeom>
          <a:noFill/>
          <a:ln w="12700">
            <a:solidFill>
              <a:srgbClr val="D5E2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3794760" cy="438912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6002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3B70"/>
                </a:solidFill>
              </a:rPr>
              <a:t>Faixa sugerida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41832" y="2011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5EA8"/>
                </a:solidFill>
              </a:rPr>
              <a:t>Bloco principal: 10.10.0.0/22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41832" y="2487168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17324D"/>
                </a:solidFill>
              </a:rPr>
              <a:t>Justificativa</a:t>
            </a:r>
            <a:endParaRPr lang="en-US" sz="1850" dirty="0"/>
          </a:p>
          <a:p>
            <a:pPr indent="0" marL="0">
              <a:buNone/>
            </a:pPr>
            <a:r>
              <a:rPr lang="en-US" sz="1850" dirty="0">
                <a:solidFill>
                  <a:srgbClr val="17324D"/>
                </a:solidFill>
              </a:rPr>
              <a:t>• /24 não atende 370 usuários (254 hosts)</a:t>
            </a:r>
            <a:endParaRPr lang="en-US" sz="1850" dirty="0"/>
          </a:p>
          <a:p>
            <a:pPr indent="0" marL="0">
              <a:buNone/>
            </a:pPr>
            <a:r>
              <a:rPr lang="en-US" sz="1850" dirty="0">
                <a:solidFill>
                  <a:srgbClr val="17324D"/>
                </a:solidFill>
              </a:rPr>
              <a:t>• /23 atende até 510 hosts úteis</a:t>
            </a:r>
            <a:endParaRPr lang="en-US" sz="1850" dirty="0"/>
          </a:p>
          <a:p>
            <a:pPr indent="0" marL="0">
              <a:buNone/>
            </a:pPr>
            <a:r>
              <a:rPr lang="en-US" sz="1850" dirty="0">
                <a:solidFill>
                  <a:srgbClr val="17324D"/>
                </a:solidFill>
              </a:rPr>
              <a:t>• /22 permite resumir várias sub-redes e manter reserva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941832" y="449884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17324D"/>
                </a:solidFill>
              </a:rPr>
              <a:t>Exemplo de gateway padrão:</a:t>
            </a:r>
            <a:endParaRPr lang="en-US" sz="1850" dirty="0"/>
          </a:p>
          <a:p>
            <a:pPr indent="0" marL="0">
              <a:buNone/>
            </a:pPr>
            <a:r>
              <a:rPr lang="en-US" sz="1850" dirty="0">
                <a:solidFill>
                  <a:srgbClr val="17324D"/>
                </a:solidFill>
              </a:rPr>
              <a:t>10.10.0.1 para usuários</a:t>
            </a:r>
            <a:endParaRPr lang="en-US" sz="1850" dirty="0"/>
          </a:p>
          <a:p>
            <a:pPr indent="0" marL="0">
              <a:buNone/>
            </a:pPr>
            <a:r>
              <a:rPr lang="en-US" sz="1850" dirty="0">
                <a:solidFill>
                  <a:srgbClr val="17324D"/>
                </a:solidFill>
              </a:rPr>
              <a:t>10.10.2.1 para servidores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800600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8C28"/>
                </a:solidFill>
              </a:rPr>
              <a:t>Plano de sub-redes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709160" y="1828800"/>
            <a:ext cx="1417320" cy="566928"/>
          </a:xfrm>
          <a:prstGeom prst="rect">
            <a:avLst/>
          </a:prstGeom>
          <a:solidFill>
            <a:srgbClr val="113B7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95681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Segmento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26480" y="1828800"/>
            <a:ext cx="1554480" cy="566928"/>
          </a:xfrm>
          <a:prstGeom prst="rect">
            <a:avLst/>
          </a:prstGeom>
          <a:solidFill>
            <a:srgbClr val="113B7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95681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Sub-rede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680960" y="1828800"/>
            <a:ext cx="822960" cy="566928"/>
          </a:xfrm>
          <a:prstGeom prst="rect">
            <a:avLst/>
          </a:prstGeom>
          <a:solidFill>
            <a:srgbClr val="113B7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6680" y="195681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Hosts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503920" y="1828800"/>
            <a:ext cx="2743200" cy="566928"/>
          </a:xfrm>
          <a:prstGeom prst="rect">
            <a:avLst/>
          </a:prstGeom>
          <a:solidFill>
            <a:srgbClr val="113B7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49640" y="195681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Uso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709160" y="2395728"/>
            <a:ext cx="1417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48716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324D"/>
                </a:solidFill>
              </a:rPr>
              <a:t>Usuários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126480" y="2395728"/>
            <a:ext cx="1554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248716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324D"/>
                </a:solidFill>
              </a:rPr>
              <a:t>10.10.0.0/23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680960" y="2395728"/>
            <a:ext cx="822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26680" y="248716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7324D"/>
                </a:solidFill>
              </a:rPr>
              <a:t>510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8503920" y="2395728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49640" y="248716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Estações dos 370 funcionários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709160" y="2962656"/>
            <a:ext cx="1417320" cy="566928"/>
          </a:xfrm>
          <a:prstGeom prst="rect">
            <a:avLst/>
          </a:prstGeom>
          <a:solidFill>
            <a:srgbClr val="EEF4FB"/>
          </a:solidFill>
          <a:ln w="12700">
            <a:solidFill>
              <a:srgbClr val="D7E3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05409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324D"/>
                </a:solidFill>
              </a:rPr>
              <a:t>Servidores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126480" y="2962656"/>
            <a:ext cx="1554480" cy="566928"/>
          </a:xfrm>
          <a:prstGeom prst="rect">
            <a:avLst/>
          </a:prstGeom>
          <a:solidFill>
            <a:srgbClr val="EEF4FB"/>
          </a:solidFill>
          <a:ln w="12700">
            <a:solidFill>
              <a:srgbClr val="D7E3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305409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324D"/>
                </a:solidFill>
              </a:rPr>
              <a:t>10.10.2.0/28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7680960" y="2962656"/>
            <a:ext cx="822960" cy="566928"/>
          </a:xfrm>
          <a:prstGeom prst="rect">
            <a:avLst/>
          </a:prstGeom>
          <a:solidFill>
            <a:srgbClr val="EEF4FB"/>
          </a:solidFill>
          <a:ln w="12700">
            <a:solidFill>
              <a:srgbClr val="D7E3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26680" y="305409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7324D"/>
                </a:solidFill>
              </a:rPr>
              <a:t>14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8503920" y="2962656"/>
            <a:ext cx="2743200" cy="566928"/>
          </a:xfrm>
          <a:prstGeom prst="rect">
            <a:avLst/>
          </a:prstGeom>
          <a:solidFill>
            <a:srgbClr val="EEF4FB"/>
          </a:solidFill>
          <a:ln w="12700">
            <a:solidFill>
              <a:srgbClr val="D7E3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49640" y="305409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AD01, AD02, FS01, FS02, APP01, APP02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709160" y="3529584"/>
            <a:ext cx="1417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62102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324D"/>
                </a:solidFill>
              </a:rPr>
              <a:t>Infra/Impressoras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6126480" y="3529584"/>
            <a:ext cx="1554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362102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324D"/>
                </a:solidFill>
              </a:rPr>
              <a:t>10.10.2.16/27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7680960" y="3529584"/>
            <a:ext cx="822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26680" y="362102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7324D"/>
                </a:solidFill>
              </a:rPr>
              <a:t>30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8503920" y="3529584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49640" y="362102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Switches, impressoras, equipamentos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4709160" y="4096512"/>
            <a:ext cx="1417320" cy="566928"/>
          </a:xfrm>
          <a:prstGeom prst="rect">
            <a:avLst/>
          </a:prstGeom>
          <a:solidFill>
            <a:srgbClr val="EEF4FB"/>
          </a:solidFill>
          <a:ln w="12700">
            <a:solidFill>
              <a:srgbClr val="D7E3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418795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324D"/>
                </a:solidFill>
              </a:rPr>
              <a:t>Gestão/Backup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6126480" y="4096512"/>
            <a:ext cx="1554480" cy="566928"/>
          </a:xfrm>
          <a:prstGeom prst="rect">
            <a:avLst/>
          </a:prstGeom>
          <a:solidFill>
            <a:srgbClr val="EEF4FB"/>
          </a:solidFill>
          <a:ln w="12700">
            <a:solidFill>
              <a:srgbClr val="D7E3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72200" y="418795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324D"/>
                </a:solidFill>
              </a:rPr>
              <a:t>10.10.2.48/28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7680960" y="4096512"/>
            <a:ext cx="822960" cy="566928"/>
          </a:xfrm>
          <a:prstGeom prst="rect">
            <a:avLst/>
          </a:prstGeom>
          <a:solidFill>
            <a:srgbClr val="EEF4FB"/>
          </a:solidFill>
          <a:ln w="12700">
            <a:solidFill>
              <a:srgbClr val="D7E3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26680" y="418795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7324D"/>
                </a:solidFill>
              </a:rPr>
              <a:t>14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8503920" y="4096512"/>
            <a:ext cx="2743200" cy="566928"/>
          </a:xfrm>
          <a:prstGeom prst="rect">
            <a:avLst/>
          </a:prstGeom>
          <a:solidFill>
            <a:srgbClr val="EEF4FB"/>
          </a:solidFill>
          <a:ln w="12700">
            <a:solidFill>
              <a:srgbClr val="D7E3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549640" y="418795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Monitoramento, backup e administração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4709160" y="4663440"/>
            <a:ext cx="1417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54880" y="47548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324D"/>
                </a:solidFill>
              </a:rPr>
              <a:t>Reserva</a:t>
            </a:r>
            <a:endParaRPr lang="en-US" sz="1350" dirty="0"/>
          </a:p>
        </p:txBody>
      </p:sp>
      <p:sp>
        <p:nvSpPr>
          <p:cNvPr id="53" name="Shape 51"/>
          <p:cNvSpPr/>
          <p:nvPr/>
        </p:nvSpPr>
        <p:spPr>
          <a:xfrm>
            <a:off x="6126480" y="4663440"/>
            <a:ext cx="1554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72200" y="47548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324D"/>
                </a:solidFill>
              </a:rPr>
              <a:t>10.10.2.64/26</a:t>
            </a:r>
            <a:endParaRPr lang="en-US" sz="1350" dirty="0"/>
          </a:p>
        </p:txBody>
      </p:sp>
      <p:sp>
        <p:nvSpPr>
          <p:cNvPr id="55" name="Shape 53"/>
          <p:cNvSpPr/>
          <p:nvPr/>
        </p:nvSpPr>
        <p:spPr>
          <a:xfrm>
            <a:off x="7680960" y="4663440"/>
            <a:ext cx="822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26680" y="475488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7324D"/>
                </a:solidFill>
              </a:rPr>
              <a:t>62</a:t>
            </a:r>
            <a:endParaRPr lang="en-US" sz="1350" dirty="0"/>
          </a:p>
        </p:txBody>
      </p:sp>
      <p:sp>
        <p:nvSpPr>
          <p:cNvPr id="57" name="Shape 55"/>
          <p:cNvSpPr/>
          <p:nvPr/>
        </p:nvSpPr>
        <p:spPr>
          <a:xfrm>
            <a:off x="8503920" y="4663440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549640" y="475488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Expansão futura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B98"/>
                </a:solidFill>
              </a:rPr>
              <a:t>Sugestão de subnetting para apresentação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3B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Viabilidade no computador do laboratório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04088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5"/>
                </a:solidFill>
              </a:rPr>
              <a:t>Equipamento disponível: 32 GB de RAM e 320 GB de HDD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12064" y="987552"/>
            <a:ext cx="11064240" cy="0"/>
          </a:xfrm>
          <a:prstGeom prst="line">
            <a:avLst/>
          </a:prstGeom>
          <a:noFill/>
          <a:ln w="12700">
            <a:solidFill>
              <a:srgbClr val="D5E2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2588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7FAFD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276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3B70"/>
                </a:solidFill>
              </a:rPr>
              <a:t>Configuração enxuta para demonstração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60120" y="2057400"/>
            <a:ext cx="1325880" cy="493776"/>
          </a:xfrm>
          <a:prstGeom prst="rect">
            <a:avLst/>
          </a:prstGeom>
          <a:solidFill>
            <a:srgbClr val="1E5E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18541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Servidor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86000" y="2057400"/>
            <a:ext cx="914400" cy="493776"/>
          </a:xfrm>
          <a:prstGeom prst="rect">
            <a:avLst/>
          </a:prstGeom>
          <a:solidFill>
            <a:srgbClr val="1E5E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218541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RAM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0" y="2057400"/>
            <a:ext cx="914400" cy="493776"/>
          </a:xfrm>
          <a:prstGeom prst="rect">
            <a:avLst/>
          </a:prstGeom>
          <a:solidFill>
            <a:srgbClr val="1E5E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18541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Disco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60120" y="2551176"/>
            <a:ext cx="13258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67004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324D"/>
                </a:solidFill>
              </a:rPr>
              <a:t>AD01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286000" y="2551176"/>
            <a:ext cx="9144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0" y="2670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324D"/>
                </a:solidFill>
              </a:rPr>
              <a:t>3 GB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0" y="2551176"/>
            <a:ext cx="9144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2670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324D"/>
                </a:solidFill>
              </a:rPr>
              <a:t>30 GB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60120" y="3044952"/>
            <a:ext cx="1325880" cy="493776"/>
          </a:xfrm>
          <a:prstGeom prst="rect">
            <a:avLst/>
          </a:prstGeom>
          <a:solidFill>
            <a:srgbClr val="EEF4FB"/>
          </a:solidFill>
          <a:ln w="12700">
            <a:solidFill>
              <a:srgbClr val="D7E3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16382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324D"/>
                </a:solidFill>
              </a:rPr>
              <a:t>AD02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286000" y="3044952"/>
            <a:ext cx="914400" cy="493776"/>
          </a:xfrm>
          <a:prstGeom prst="rect">
            <a:avLst/>
          </a:prstGeom>
          <a:solidFill>
            <a:srgbClr val="EEF4FB"/>
          </a:solidFill>
          <a:ln w="12700">
            <a:solidFill>
              <a:srgbClr val="D7E3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0" y="316382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324D"/>
                </a:solidFill>
              </a:rPr>
              <a:t>3 GB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00400" y="3044952"/>
            <a:ext cx="914400" cy="493776"/>
          </a:xfrm>
          <a:prstGeom prst="rect">
            <a:avLst/>
          </a:prstGeom>
          <a:solidFill>
            <a:srgbClr val="EEF4FB"/>
          </a:solidFill>
          <a:ln w="12700">
            <a:solidFill>
              <a:srgbClr val="D7E3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316382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324D"/>
                </a:solidFill>
              </a:rPr>
              <a:t>30 GB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60120" y="3538728"/>
            <a:ext cx="13258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365760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324D"/>
                </a:solidFill>
              </a:rPr>
              <a:t>FS01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286000" y="3538728"/>
            <a:ext cx="9144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0" y="3657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324D"/>
                </a:solidFill>
              </a:rPr>
              <a:t>4 GB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200400" y="3538728"/>
            <a:ext cx="9144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0" y="3657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324D"/>
                </a:solidFill>
              </a:rPr>
              <a:t>40 GB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60120" y="4032504"/>
            <a:ext cx="1325880" cy="493776"/>
          </a:xfrm>
          <a:prstGeom prst="rect">
            <a:avLst/>
          </a:prstGeom>
          <a:solidFill>
            <a:srgbClr val="EEF4FB"/>
          </a:solidFill>
          <a:ln w="12700">
            <a:solidFill>
              <a:srgbClr val="D7E3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" y="415137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324D"/>
                </a:solidFill>
              </a:rPr>
              <a:t>FS02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2286000" y="4032504"/>
            <a:ext cx="914400" cy="493776"/>
          </a:xfrm>
          <a:prstGeom prst="rect">
            <a:avLst/>
          </a:prstGeom>
          <a:solidFill>
            <a:srgbClr val="EEF4FB"/>
          </a:solidFill>
          <a:ln w="12700">
            <a:solidFill>
              <a:srgbClr val="D7E3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0" y="415137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324D"/>
                </a:solidFill>
              </a:rPr>
              <a:t>4 GB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200400" y="4032504"/>
            <a:ext cx="914400" cy="493776"/>
          </a:xfrm>
          <a:prstGeom prst="rect">
            <a:avLst/>
          </a:prstGeom>
          <a:solidFill>
            <a:srgbClr val="EEF4FB"/>
          </a:solidFill>
          <a:ln w="12700">
            <a:solidFill>
              <a:srgbClr val="D7E3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0" y="415137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324D"/>
                </a:solidFill>
              </a:rPr>
              <a:t>40 GB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960120" y="4526280"/>
            <a:ext cx="13258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0120" y="464515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324D"/>
                </a:solidFill>
              </a:rPr>
              <a:t>APP01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2286000" y="4526280"/>
            <a:ext cx="9144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86000" y="46451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324D"/>
                </a:solidFill>
              </a:rPr>
              <a:t>3 GB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200400" y="4526280"/>
            <a:ext cx="9144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0" y="46451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324D"/>
                </a:solidFill>
              </a:rPr>
              <a:t>40 GB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960120" y="5020056"/>
            <a:ext cx="1325880" cy="493776"/>
          </a:xfrm>
          <a:prstGeom prst="rect">
            <a:avLst/>
          </a:prstGeom>
          <a:solidFill>
            <a:srgbClr val="EEF4FB"/>
          </a:solidFill>
          <a:ln w="12700">
            <a:solidFill>
              <a:srgbClr val="D7E3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60120" y="513892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324D"/>
                </a:solidFill>
              </a:rPr>
              <a:t>APP02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2286000" y="5020056"/>
            <a:ext cx="914400" cy="493776"/>
          </a:xfrm>
          <a:prstGeom prst="rect">
            <a:avLst/>
          </a:prstGeom>
          <a:solidFill>
            <a:srgbClr val="EEF4FB"/>
          </a:solidFill>
          <a:ln w="12700">
            <a:solidFill>
              <a:srgbClr val="D7E3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86000" y="51389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324D"/>
                </a:solidFill>
              </a:rPr>
              <a:t>3 GB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200400" y="5020056"/>
            <a:ext cx="914400" cy="493776"/>
          </a:xfrm>
          <a:prstGeom prst="rect">
            <a:avLst/>
          </a:prstGeom>
          <a:solidFill>
            <a:srgbClr val="EEF4FB"/>
          </a:solidFill>
          <a:ln w="12700">
            <a:solidFill>
              <a:srgbClr val="D7E3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0" y="51389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324D"/>
                </a:solidFill>
              </a:rPr>
              <a:t>40 GB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960120" y="55595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28C28"/>
                </a:solidFill>
              </a:rPr>
              <a:t>Total das VMs: 20 GB RAM e 220 GB de disco</a:t>
            </a:r>
            <a:endParaRPr lang="en-US" sz="1750" dirty="0"/>
          </a:p>
        </p:txBody>
      </p:sp>
      <p:sp>
        <p:nvSpPr>
          <p:cNvPr id="50" name="Shape 48"/>
          <p:cNvSpPr/>
          <p:nvPr/>
        </p:nvSpPr>
        <p:spPr>
          <a:xfrm>
            <a:off x="6080760" y="132588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9F1"/>
          </a:solidFill>
          <a:ln w="12700">
            <a:solidFill>
              <a:srgbClr val="F2D2A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55080" y="16276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05C00"/>
                </a:solidFill>
              </a:rPr>
              <a:t>Leitura técnica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6355080" y="1993392"/>
            <a:ext cx="4572000" cy="3429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</a:rPr>
              <a:t>Para aula/laboratório, é possível demonstrar o cenário com máquinas virtuais enxutas.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</a:rPr>
              <a:t>O HDD de 320 GB é o principal limitador: usar discos dinâmicos e arquivos de teste pequenos.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</a:rPr>
              <a:t>Em produção real, a empresa precisaria de armazenamento muito maior e preferência por SSD/RAID.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</a:rPr>
              <a:t>Recomendação acadêmica: manter foco na configuração dos serviços, não em carga real de usuários.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B98"/>
                </a:solidFill>
              </a:rPr>
              <a:t>Viável para demonstração; limitado para produção real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3B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Evidências e conclusão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04088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5"/>
                </a:solidFill>
              </a:rPr>
              <a:t>O que apresentar na entrega do trabalho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12064" y="987552"/>
            <a:ext cx="11064240" cy="0"/>
          </a:xfrm>
          <a:prstGeom prst="line">
            <a:avLst/>
          </a:prstGeom>
          <a:noFill/>
          <a:ln w="12700">
            <a:solidFill>
              <a:srgbClr val="D5E2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25880"/>
            <a:ext cx="51206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6276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3B70"/>
                </a:solidFill>
              </a:rPr>
              <a:t>Evidências sugeridas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1993392"/>
            <a:ext cx="4572000" cy="3429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</a:rPr>
              <a:t>Print da criação do domínio no AD DS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</a:rPr>
              <a:t>Print dos usuários, grupos e políticas básicas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</a:rPr>
              <a:t>Print do compartilhamento de pastas nos File Servers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</a:rPr>
              <a:t>Print do serviço/aplicação instalada nos APP Servers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</a:rPr>
              <a:t>Print da configuração IP das VMs e teste de conectividade (ping/DNS)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</a:rPr>
              <a:t>Print da topologia ou do hypervisor com as 6 VMs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144768" y="1325880"/>
            <a:ext cx="5285232" cy="4526280"/>
          </a:xfrm>
          <a:prstGeom prst="roundRect">
            <a:avLst>
              <a:gd name="adj" fmla="val 1616"/>
            </a:avLst>
          </a:prstGeom>
          <a:solidFill>
            <a:srgbClr val="EAF2FB"/>
          </a:solidFill>
          <a:ln w="12700">
            <a:solidFill>
              <a:srgbClr val="D3E1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6276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8C28"/>
                </a:solidFill>
              </a:rPr>
              <a:t>Conclusão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0" y="20299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13B70"/>
                </a:solidFill>
              </a:rPr>
              <a:t>Pontos principais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400800" y="2670048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7324D"/>
                </a:solidFill>
              </a:rPr>
              <a:t>• 6 servidores distribuídos por função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7324D"/>
                </a:solidFill>
              </a:rPr>
              <a:t>• Rede privada organizada em sub-redes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7324D"/>
                </a:solidFill>
              </a:rPr>
              <a:t>• Espaço para crescimento do ambiente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7324D"/>
                </a:solidFill>
              </a:rPr>
              <a:t>• Demonstração viável no laboratório, com ajustes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00800" y="4919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13B70"/>
                </a:solidFill>
              </a:rPr>
              <a:t>Mensagem final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6400800" y="519379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7324D"/>
                </a:solidFill>
              </a:rPr>
              <a:t>2 AD + 2 File Servers + 2 APP Servers mostram, de forma simples, os principais recursos do Windows Server.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B98"/>
                </a:solidFill>
              </a:rPr>
              <a:t>Fim da apresentação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Aula Server Windows</dc:title>
  <dc:subject>Projeto Aula Server Windows</dc:subject>
  <dc:creator>OpenAI</dc:creator>
  <cp:lastModifiedBy>OpenAI</cp:lastModifiedBy>
  <cp:revision>1</cp:revision>
  <dcterms:created xsi:type="dcterms:W3CDTF">2026-04-02T01:19:52Z</dcterms:created>
  <dcterms:modified xsi:type="dcterms:W3CDTF">2026-04-02T01:19:52Z</dcterms:modified>
</cp:coreProperties>
</file>